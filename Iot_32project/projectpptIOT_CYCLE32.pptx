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ink/ink2.xml" ContentType="application/inkml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1" r:id="rId14"/>
    <p:sldId id="272" r:id="rId15"/>
    <p:sldId id="273" r:id="rId16"/>
    <p:sldId id="267" r:id="rId17"/>
    <p:sldId id="270" r:id="rId18"/>
    <p:sldId id="268" r:id="rId19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9:03:49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4625 8684 16383 0 0,'0'0'0'0'0</inkml:trace>
</inkml:ink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4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5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1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8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2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3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customXml" Target="../ink/ink2.xm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6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6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6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2"/>
          <p:cNvSpPr txBox="1"/>
          <p:nvPr/>
        </p:nvSpPr>
        <p:spPr>
          <a:xfrm>
            <a:off x="974868" y="5069871"/>
            <a:ext cx="3349711" cy="701041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r>
              <a:rPr dirty="0" sz="2000" lang="en-US"/>
              <a:t>Guided By :-</a:t>
            </a:r>
          </a:p>
          <a:p>
            <a:r>
              <a:rPr b="1" dirty="0" sz="2000" lang="en-US" err="1"/>
              <a:t>Mrs.</a:t>
            </a:r>
            <a:r>
              <a:rPr altLang="en-GB" b="1" dirty="0" sz="2000" lang="en-US" err="1"/>
              <a:t>C</a:t>
            </a:r>
            <a:r>
              <a:rPr altLang="en-GB" b="1" dirty="0" sz="2000" lang="en-US" err="1"/>
              <a:t>H</a:t>
            </a:r>
            <a:r>
              <a:rPr altLang="en-GB" b="1" dirty="0" sz="2000" lang="en-US" err="1"/>
              <a:t>A</a:t>
            </a:r>
            <a:r>
              <a:rPr altLang="en-GB" b="1" dirty="0" sz="2000" lang="en-US" err="1"/>
              <a:t>N</a:t>
            </a:r>
            <a:r>
              <a:rPr altLang="en-GB" b="1" dirty="0" sz="2000" lang="en-US" err="1"/>
              <a:t>D</a:t>
            </a:r>
            <a:r>
              <a:rPr altLang="en-GB" b="1" dirty="0" sz="2000" lang="en-US" err="1"/>
              <a:t>R</a:t>
            </a:r>
            <a:r>
              <a:rPr altLang="en-GB" b="1" dirty="0" sz="2000" lang="en-US" err="1"/>
              <a:t>A</a:t>
            </a:r>
            <a:r>
              <a:rPr altLang="en-GB" b="1" dirty="0" sz="2000" lang="en-US" err="1"/>
              <a:t>K</a:t>
            </a:r>
            <a:r>
              <a:rPr altLang="en-GB" b="1" dirty="0" sz="2000" lang="en-US" err="1"/>
              <a:t>A</a:t>
            </a:r>
            <a:r>
              <a:rPr altLang="en-GB" b="1" dirty="0" sz="2000" lang="en-US" err="1"/>
              <a:t>L</a:t>
            </a:r>
            <a:r>
              <a:rPr altLang="en-GB" b="1" dirty="0" sz="2000" lang="en-US" err="1"/>
              <a:t>A</a:t>
            </a:r>
            <a:endParaRPr b="1" dirty="0" sz="2000" lang="en-US"/>
          </a:p>
        </p:txBody>
      </p:sp>
      <p:sp>
        <p:nvSpPr>
          <p:cNvPr id="1048585" name="TextBox 3"/>
          <p:cNvSpPr txBox="1"/>
          <p:nvPr/>
        </p:nvSpPr>
        <p:spPr>
          <a:xfrm>
            <a:off x="7993637" y="4119276"/>
            <a:ext cx="3797473" cy="190119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>
              <a:lnSpc>
                <a:spcPct val="150000"/>
              </a:lnSpc>
            </a:pPr>
            <a:r>
              <a:rPr dirty="0" sz="1600" lang="en-US"/>
              <a:t>Group Members :-</a:t>
            </a:r>
            <a:endParaRPr sz="1400"/>
          </a:p>
          <a:p>
            <a:pPr>
              <a:lnSpc>
                <a:spcPct val="150000"/>
              </a:lnSpc>
            </a:pPr>
            <a:r>
              <a:rPr b="1" dirty="0" sz="1600" lang="en-US"/>
              <a:t>B.S</a:t>
            </a:r>
            <a:r>
              <a:rPr altLang="en-GB" b="1" dirty="0" sz="1600" lang="en-US"/>
              <a:t>R</a:t>
            </a:r>
            <a:r>
              <a:rPr altLang="en-GB" b="1" dirty="0" sz="1600" lang="en-US"/>
              <a:t>I</a:t>
            </a:r>
            <a:r>
              <a:rPr altLang="en-GB" b="1" dirty="0" sz="1600" lang="en-US"/>
              <a:t> </a:t>
            </a:r>
            <a:r>
              <a:rPr altLang="en-GB" b="1" dirty="0" sz="1600" lang="en-US"/>
              <a:t>C</a:t>
            </a:r>
            <a:r>
              <a:rPr altLang="en-GB" b="1" dirty="0" sz="1600" lang="en-US"/>
              <a:t>H</a:t>
            </a:r>
            <a:r>
              <a:rPr altLang="en-GB" b="1" dirty="0" sz="1600" lang="en-US"/>
              <a:t>A</a:t>
            </a:r>
            <a:r>
              <a:rPr altLang="en-GB" b="1" dirty="0" sz="1600" lang="en-US"/>
              <a:t>N</a:t>
            </a:r>
            <a:r>
              <a:rPr altLang="en-GB" b="1" dirty="0" sz="1600" lang="en-US"/>
              <a:t>D</a:t>
            </a:r>
            <a:r>
              <a:rPr altLang="en-GB" b="1" dirty="0" sz="1600" lang="en-US"/>
              <a:t>A</a:t>
            </a:r>
            <a:r>
              <a:rPr altLang="en-GB" b="1" dirty="0" sz="1600" lang="en-US"/>
              <a:t>N</a:t>
            </a:r>
            <a:r>
              <a:rPr altLang="en-GB" b="1" dirty="0" sz="1600" lang="en-US"/>
              <a:t>A</a:t>
            </a:r>
            <a:r>
              <a:rPr b="1" dirty="0" sz="1600" lang="en-US"/>
              <a:t>(22361A05A</a:t>
            </a:r>
            <a:r>
              <a:rPr altLang="en-GB" b="1" dirty="0" sz="1600" lang="en-US"/>
              <a:t>2</a:t>
            </a:r>
            <a:r>
              <a:rPr b="1" dirty="0" sz="1600" lang="en-US"/>
              <a:t>)</a:t>
            </a:r>
            <a:endParaRPr altLang="en-US" sz="1400" lang="zh-CN"/>
          </a:p>
          <a:p>
            <a:pPr>
              <a:lnSpc>
                <a:spcPct val="150000"/>
              </a:lnSpc>
            </a:pPr>
            <a:r>
              <a:rPr altLang="en-GB" b="1" dirty="0" sz="1600" lang="en-US"/>
              <a:t>P</a:t>
            </a:r>
            <a:r>
              <a:rPr altLang="en-GB" b="1" dirty="0" sz="1600" lang="en-US"/>
              <a:t>.</a:t>
            </a:r>
            <a:r>
              <a:rPr b="1" dirty="0" sz="1600" lang="en-US"/>
              <a:t>S</a:t>
            </a:r>
            <a:r>
              <a:rPr altLang="en-GB" b="1" dirty="0" sz="1600" lang="en-US"/>
              <a:t>U</a:t>
            </a:r>
            <a:r>
              <a:rPr altLang="en-GB" b="1" dirty="0" sz="1600" lang="en-US"/>
              <a:t>C</a:t>
            </a:r>
            <a:r>
              <a:rPr altLang="en-GB" b="1" dirty="0" sz="1600" lang="en-US"/>
              <a:t>H</a:t>
            </a:r>
            <a:r>
              <a:rPr altLang="en-GB" b="1" dirty="0" sz="1600" lang="en-US"/>
              <a:t>I</a:t>
            </a:r>
            <a:r>
              <a:rPr altLang="en-GB" b="1" dirty="0" sz="1600" lang="en-US"/>
              <a:t>T</a:t>
            </a:r>
            <a:r>
              <a:rPr altLang="en-GB" b="1" dirty="0" sz="1600" lang="en-US"/>
              <a:t>R</a:t>
            </a:r>
            <a:r>
              <a:rPr altLang="en-GB" b="1" dirty="0" sz="1600" lang="en-US"/>
              <a:t>A</a:t>
            </a:r>
            <a:r>
              <a:rPr b="1" dirty="0" sz="1600" lang="en-US"/>
              <a:t> (22361A05</a:t>
            </a:r>
            <a:r>
              <a:rPr altLang="en-GB" b="1" dirty="0" sz="1600" lang="en-US"/>
              <a:t>A</a:t>
            </a:r>
            <a:r>
              <a:rPr altLang="en-GB" b="1" dirty="0" sz="1600" lang="en-US"/>
              <a:t>7</a:t>
            </a:r>
            <a:r>
              <a:rPr b="1" dirty="0" sz="1600" lang="en-US"/>
              <a:t>)</a:t>
            </a:r>
            <a:endParaRPr altLang="en-US" sz="1400" lang="zh-CN"/>
          </a:p>
          <a:p>
            <a:pPr>
              <a:lnSpc>
                <a:spcPct val="150000"/>
              </a:lnSpc>
            </a:pPr>
            <a:r>
              <a:rPr altLang="en-GB" b="1" dirty="0" sz="1600" lang="en-US"/>
              <a:t>G</a:t>
            </a:r>
            <a:r>
              <a:rPr altLang="en-GB" b="1" dirty="0" sz="1600" lang="en-US"/>
              <a:t>.</a:t>
            </a:r>
            <a:r>
              <a:rPr altLang="en-GB" b="1" dirty="0" sz="1600" lang="en-US"/>
              <a:t>S</a:t>
            </a:r>
            <a:r>
              <a:rPr altLang="en-GB" b="1" dirty="0" sz="1600" lang="en-US"/>
              <a:t>U</a:t>
            </a:r>
            <a:r>
              <a:rPr altLang="en-GB" b="1" dirty="0" sz="1600" lang="en-US"/>
              <a:t>S</a:t>
            </a:r>
            <a:r>
              <a:rPr altLang="en-GB" b="1" dirty="0" sz="1600" lang="en-US"/>
              <a:t>H</a:t>
            </a:r>
            <a:r>
              <a:rPr altLang="en-GB" b="1" dirty="0" sz="1600" lang="en-US"/>
              <a:t>M</a:t>
            </a:r>
            <a:r>
              <a:rPr altLang="en-GB" b="1" dirty="0" sz="1600" lang="en-US"/>
              <a:t>I</a:t>
            </a:r>
            <a:r>
              <a:rPr altLang="en-GB" b="1" dirty="0" sz="1600" lang="en-US"/>
              <a:t>T</a:t>
            </a:r>
            <a:r>
              <a:rPr altLang="en-GB" b="1" dirty="0" sz="1600" lang="en-US"/>
              <a:t>H</a:t>
            </a:r>
            <a:r>
              <a:rPr altLang="en-GB" b="1" dirty="0" sz="1600" lang="en-US"/>
              <a:t>A</a:t>
            </a:r>
            <a:r>
              <a:rPr b="1" dirty="0" sz="1600" lang="en-US"/>
              <a:t>(23365A05</a:t>
            </a:r>
            <a:r>
              <a:rPr altLang="en-GB" b="1" dirty="0" sz="1600" lang="en-US"/>
              <a:t>A</a:t>
            </a:r>
            <a:r>
              <a:rPr altLang="en-GB" b="1" dirty="0" sz="1600" lang="en-US"/>
              <a:t>8</a:t>
            </a:r>
            <a:r>
              <a:rPr b="1" dirty="0" sz="1600" lang="en-US"/>
              <a:t>)</a:t>
            </a:r>
            <a:endParaRPr altLang="en-US" sz="1400" lang="zh-CN"/>
          </a:p>
          <a:p>
            <a:pPr>
              <a:lnSpc>
                <a:spcPct val="150000"/>
              </a:lnSpc>
            </a:pPr>
            <a:r>
              <a:rPr altLang="en-GB" b="1" dirty="0" sz="1600" lang="en-US"/>
              <a:t>SYED NUVER(23365A0511)</a:t>
            </a:r>
            <a:endParaRPr altLang="en-US" lang="zh-CN"/>
          </a:p>
        </p:txBody>
      </p:sp>
      <p:sp>
        <p:nvSpPr>
          <p:cNvPr id="1048586" name="TextBox 8"/>
          <p:cNvSpPr txBox="1"/>
          <p:nvPr/>
        </p:nvSpPr>
        <p:spPr>
          <a:xfrm>
            <a:off x="3842768" y="2638708"/>
            <a:ext cx="5026008" cy="993140"/>
          </a:xfrm>
          <a:prstGeom prst="rect"/>
          <a:noFill/>
        </p:spPr>
        <p:txBody>
          <a:bodyPr rtlCol="0" wrap="square">
            <a:spAutoFit/>
          </a:bodyPr>
          <a:p>
            <a:pPr algn="l"/>
            <a:r>
              <a:rPr altLang="en-GB" b="1" dirty="0" sz="6000" lang="en-US"/>
              <a:t> </a:t>
            </a:r>
            <a:r>
              <a:rPr altLang="en-GB" b="1" dirty="0" sz="4400" lang="en-US"/>
              <a:t>C</a:t>
            </a:r>
            <a:r>
              <a:rPr altLang="en-GB" b="1" dirty="0" sz="4400" lang="en-US"/>
              <a:t>a</a:t>
            </a:r>
            <a:r>
              <a:rPr altLang="en-GB" b="1" dirty="0" sz="4400" lang="en-US"/>
              <a:t>l</a:t>
            </a:r>
            <a:r>
              <a:rPr altLang="en-GB" b="1" dirty="0" sz="4400" lang="en-US"/>
              <a:t>o</a:t>
            </a:r>
            <a:r>
              <a:rPr altLang="en-GB" b="1" dirty="0" sz="4400" lang="en-US"/>
              <a:t>rie </a:t>
            </a:r>
            <a:r>
              <a:rPr altLang="en-GB" b="1" dirty="0" sz="4400" lang="en-US"/>
              <a:t>Burner </a:t>
            </a:r>
            <a:endParaRPr b="1" dirty="0" lang="en-US"/>
          </a:p>
        </p:txBody>
      </p:sp>
      <p:sp>
        <p:nvSpPr>
          <p:cNvPr id="1048587" name="TextBox 17"/>
          <p:cNvSpPr txBox="1"/>
          <p:nvPr/>
        </p:nvSpPr>
        <p:spPr>
          <a:xfrm>
            <a:off x="2332451" y="499648"/>
            <a:ext cx="10178087" cy="584775"/>
          </a:xfrm>
          <a:prstGeom prst="rect"/>
          <a:noFill/>
        </p:spPr>
        <p:txBody>
          <a:bodyPr rtlCol="0" wrap="square">
            <a:spAutoFit/>
          </a:bodyPr>
          <a:p>
            <a:pPr algn="l"/>
            <a:r>
              <a:rPr b="1" dirty="0" sz="2800" lang="en-US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JAYAPRAKASH NARAYAN</a:t>
            </a:r>
            <a:r>
              <a:rPr altLang="en-GB" b="1" dirty="0" sz="2800" lang="en-US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b="1" dirty="0" sz="2800" lang="en-US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COLLEGE OF ENGINEERING</a:t>
            </a:r>
            <a:r>
              <a:rPr b="1" dirty="0" sz="3200" lang="en-US" u="sng"/>
              <a:t> </a:t>
            </a:r>
            <a:endParaRPr altLang="en-US" lang="zh-CN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24034" y="171363"/>
            <a:ext cx="1608417" cy="101157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extBox 3"/>
          <p:cNvSpPr txBox="1"/>
          <p:nvPr/>
        </p:nvSpPr>
        <p:spPr>
          <a:xfrm>
            <a:off x="3290969" y="286161"/>
            <a:ext cx="5610063" cy="688339"/>
          </a:xfrm>
          <a:prstGeom prst="rect"/>
          <a:noFill/>
        </p:spPr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ctr"/>
            <a:r>
              <a:rPr b="1" dirty="0" sz="4000" lang="en-US">
                <a:latin typeface="Tahoma"/>
                <a:ea typeface="Tahoma"/>
                <a:cs typeface="Tahoma"/>
              </a:rPr>
              <a:t>ABSTRACT</a:t>
            </a:r>
            <a:endParaRPr sz="4000" lang="en-US"/>
          </a:p>
        </p:txBody>
      </p:sp>
      <p:sp>
        <p:nvSpPr>
          <p:cNvPr id="1048589" name="TextBox 4"/>
          <p:cNvSpPr txBox="1"/>
          <p:nvPr/>
        </p:nvSpPr>
        <p:spPr>
          <a:xfrm>
            <a:off x="1025403" y="868681"/>
            <a:ext cx="10788368" cy="5120639"/>
          </a:xfrm>
          <a:prstGeom prst="rect"/>
          <a:noFill/>
        </p:spPr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l">
              <a:lnSpc>
                <a:spcPct val="150000"/>
              </a:lnSpc>
            </a:pPr>
            <a:r>
              <a:rPr altLang="en-GB" dirty="0" sz="2800" lang="en-US">
                <a:ea typeface="+mn-lt"/>
                <a:cs typeface="+mn-lt"/>
              </a:rPr>
              <a:t>The Calorie Burner is an innovative system that merges fitness and functionality. It features a traditional bicycle enhanced with smart capabilities such as real-time calorie tracking, speed display, and an onboard mixer powered by pedaling. The cycle uses an ESP8266 (NodeMCU) microcontroller, sensors, and a TFT display. It promotes physical activity while harnessing human-generated energy for utility, such as blending juice. This project is a step toward sustainable energy use and IoT-based health monitoring.</a:t>
            </a:r>
            <a:endParaRPr dirty="0" lang="en-US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Box 1"/>
          <p:cNvSpPr txBox="1"/>
          <p:nvPr/>
        </p:nvSpPr>
        <p:spPr>
          <a:xfrm>
            <a:off x="1850705" y="0"/>
            <a:ext cx="8490589" cy="128524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ctr"/>
            <a:r>
              <a:rPr b="1" dirty="0" sz="4000" lang="en-US">
                <a:latin typeface="Tahoma"/>
                <a:ea typeface="Tahoma"/>
                <a:cs typeface="Tahoma"/>
              </a:rPr>
              <a:t>INTRODUCTION</a:t>
            </a:r>
            <a:r>
              <a:rPr dirty="0" sz="8000" lang="en-US">
                <a:latin typeface="Tahoma"/>
                <a:ea typeface="Tahoma"/>
                <a:cs typeface="Tahoma"/>
              </a:rPr>
              <a:t>​</a:t>
            </a:r>
            <a:endParaRPr sz="8000" lang="en-US">
              <a:latin typeface="Aptos"/>
              <a:ea typeface="Tahoma"/>
              <a:cs typeface="Tahoma"/>
            </a:endParaRPr>
          </a:p>
        </p:txBody>
      </p:sp>
      <p:sp>
        <p:nvSpPr>
          <p:cNvPr id="1048591" name="TextBox 2"/>
          <p:cNvSpPr txBox="1"/>
          <p:nvPr/>
        </p:nvSpPr>
        <p:spPr>
          <a:xfrm>
            <a:off x="1391480" y="1692318"/>
            <a:ext cx="9997856" cy="3863340"/>
          </a:xfrm>
          <a:prstGeom prst="rect"/>
          <a:noFill/>
        </p:spPr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l">
              <a:lnSpc>
                <a:spcPct val="150000"/>
              </a:lnSpc>
            </a:pPr>
            <a:r>
              <a:rPr dirty="0" sz="2800" lang="en-US">
                <a:ea typeface="+mn-lt"/>
                <a:cs typeface="+mn-lt"/>
              </a:rPr>
              <a:t>In</a:t>
            </a:r>
            <a:r>
              <a:rPr altLang="en-GB" dirty="0" sz="2800" lang="en-US">
                <a:ea typeface="+mn-lt"/>
                <a:cs typeface="+mn-lt"/>
              </a:rPr>
              <a:t> the modern era, people seek ways to stay fit and productive. The Calorie Burner was developed to encourage a healthy lifestyle by tracking calories burned while also performing a practical task-blending juice using pedaling power. The system integrates sensors and a microcontroller to make the cycling experience both informative and functional.</a:t>
            </a:r>
            <a:endParaRPr dirty="0" sz="28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extBox 1"/>
          <p:cNvSpPr txBox="1"/>
          <p:nvPr/>
        </p:nvSpPr>
        <p:spPr>
          <a:xfrm>
            <a:off x="914197" y="738799"/>
            <a:ext cx="9338367" cy="68834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ctr"/>
            <a:r>
              <a:rPr b="1" dirty="0" sz="4000" lang="en-US">
                <a:latin typeface="Tahoma"/>
                <a:ea typeface="Tahoma"/>
                <a:cs typeface="Tahoma"/>
              </a:rPr>
              <a:t>EXISTING</a:t>
            </a:r>
            <a:r>
              <a:rPr b="1" dirty="0" sz="4000" lang="en-US">
                <a:latin typeface="Tahoma"/>
                <a:ea typeface="+mn-lt"/>
                <a:cs typeface="+mn-lt"/>
              </a:rPr>
              <a:t> </a:t>
            </a:r>
            <a:r>
              <a:rPr b="1" dirty="0" sz="4000" lang="en-US">
                <a:latin typeface="Tahoma"/>
                <a:ea typeface="+mn-lt"/>
                <a:cs typeface="+mn-lt"/>
              </a:rPr>
              <a:t>SYSTEM</a:t>
            </a:r>
            <a:endParaRPr b="1" sz="4000" lang="en-US">
              <a:latin typeface="Tahoma"/>
              <a:ea typeface="Tahoma"/>
              <a:cs typeface="Tahoma"/>
            </a:endParaRPr>
          </a:p>
        </p:txBody>
      </p:sp>
      <p:sp>
        <p:nvSpPr>
          <p:cNvPr id="1048593" name="TextBox 2"/>
          <p:cNvSpPr txBox="1"/>
          <p:nvPr/>
        </p:nvSpPr>
        <p:spPr>
          <a:xfrm>
            <a:off x="1432035" y="1427139"/>
            <a:ext cx="7014007" cy="438404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>
              <a:spcBef>
                <a:spcPts val="2000"/>
              </a:spcBef>
              <a:buFont typeface="Arial"/>
              <a:buChar char="•"/>
            </a:pPr>
            <a:endParaRPr dirty="0" lang="en-US"/>
          </a:p>
          <a:p>
            <a:pPr indent="0" marL="0">
              <a:lnSpc>
                <a:spcPct val="150000"/>
              </a:lnSpc>
              <a:spcBef>
                <a:spcPts val="2000"/>
              </a:spcBef>
              <a:buNone/>
            </a:pPr>
            <a:r>
              <a:rPr altLang="en-GB" b="0" dirty="0" sz="2800" lang="en-US"/>
              <a:t>Tr</a:t>
            </a:r>
            <a:r>
              <a:rPr altLang="en-GB" b="0" dirty="0" sz="2800" lang="en-US"/>
              <a:t>aditional bicycles are designed only for transportation and fitness but do not offer real-time feedback or utility use. While fitness tracking devices exist, they are typically expensive and separate from the cycle.</a:t>
            </a:r>
            <a:endParaRPr b="0" dirty="0" sz="2800" lang="en-US"/>
          </a:p>
        </p:txBody>
      </p:sp>
      <p:pic>
        <p:nvPicPr>
          <p:cNvPr id="2097153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t="17890" b="17890"/>
          <a:stretch>
            <a:fillRect/>
          </a:stretch>
        </p:blipFill>
        <p:spPr>
          <a:xfrm>
            <a:off x="8475041" y="1350547"/>
            <a:ext cx="3716959" cy="4061738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extBox 1"/>
          <p:cNvSpPr txBox="1"/>
          <p:nvPr/>
        </p:nvSpPr>
        <p:spPr>
          <a:xfrm>
            <a:off x="1710785" y="556886"/>
            <a:ext cx="8770428" cy="68834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ctr"/>
            <a:r>
              <a:rPr b="1" dirty="0" sz="4000" lang="en-US">
                <a:latin typeface="Tahoma"/>
                <a:ea typeface="Tahoma"/>
                <a:cs typeface="Tahoma"/>
              </a:rPr>
              <a:t>EXISTING SYSTE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M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 </a:t>
            </a:r>
            <a:r>
              <a:rPr b="1" dirty="0" sz="4000" lang="en-US">
                <a:latin typeface="Tahoma"/>
                <a:ea typeface="Tahoma"/>
                <a:cs typeface="Tahoma"/>
              </a:rPr>
              <a:t>DISADVANTAGES</a:t>
            </a:r>
            <a:endParaRPr sz="4000" lang="en-US"/>
          </a:p>
        </p:txBody>
      </p:sp>
      <p:sp>
        <p:nvSpPr>
          <p:cNvPr id="1048670" name=""/>
          <p:cNvSpPr txBox="1"/>
          <p:nvPr/>
        </p:nvSpPr>
        <p:spPr>
          <a:xfrm>
            <a:off x="2018454" y="1918494"/>
            <a:ext cx="9827180" cy="2606039"/>
          </a:xfrm>
          <a:prstGeom prst="rect"/>
        </p:spPr>
        <p:txBody>
          <a:bodyPr rtlCol="0" wrap="square">
            <a:spAutoFit/>
          </a:bodyPr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No built-in calorie or speed tracking.</a:t>
            </a:r>
            <a:endParaRPr sz="2800" lang="en-GB">
              <a:solidFill>
                <a:srgbClr val="000000"/>
              </a:solidFill>
            </a:endParaRPr>
          </a:p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Requires additional devices to monitor fitness.</a:t>
            </a:r>
            <a:endParaRPr sz="2800" lang="en-GB">
              <a:solidFill>
                <a:srgbClr val="000000"/>
              </a:solidFill>
            </a:endParaRPr>
          </a:p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Lack of energy utilization from pedaling.</a:t>
            </a:r>
            <a:endParaRPr sz="2800" lang="en-GB">
              <a:solidFill>
                <a:srgbClr val="000000"/>
              </a:solidFill>
            </a:endParaRPr>
          </a:p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Limited user interaction or data display.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Box 1"/>
          <p:cNvSpPr txBox="1"/>
          <p:nvPr/>
        </p:nvSpPr>
        <p:spPr>
          <a:xfrm>
            <a:off x="1431379" y="635945"/>
            <a:ext cx="9329801" cy="68834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ctr"/>
            <a:r>
              <a:rPr b="1" dirty="0" sz="4000" lang="en-US">
                <a:latin typeface="Tahoma"/>
                <a:ea typeface="+mn-lt"/>
                <a:cs typeface="+mn-lt"/>
              </a:rPr>
              <a:t>PROPOSED SYSTEM</a:t>
            </a:r>
            <a:endParaRPr b="1" sz="4000" lang="en-US">
              <a:latin typeface="Tahoma"/>
              <a:ea typeface="Tahoma"/>
              <a:cs typeface="Tahoma"/>
            </a:endParaRPr>
          </a:p>
        </p:txBody>
      </p:sp>
      <p:sp>
        <p:nvSpPr>
          <p:cNvPr id="1048597" name="TextBox 2"/>
          <p:cNvSpPr txBox="1"/>
          <p:nvPr/>
        </p:nvSpPr>
        <p:spPr>
          <a:xfrm>
            <a:off x="1192638" y="1909200"/>
            <a:ext cx="7543020" cy="4491990"/>
          </a:xfrm>
          <a:prstGeom prst="rect"/>
          <a:noFill/>
        </p:spPr>
        <p:txBody>
          <a:bodyPr anchor="t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indent="0" marL="0">
              <a:lnSpc>
                <a:spcPct val="150000"/>
              </a:lnSpc>
              <a:spcBef>
                <a:spcPts val="2000"/>
              </a:spcBef>
              <a:buNone/>
            </a:pPr>
            <a:r>
              <a:rPr altLang="en-GB" b="0" dirty="0" sz="2800" lang="en-US">
                <a:ea typeface="+mn-lt"/>
                <a:cs typeface="+mn-lt"/>
              </a:rPr>
              <a:t>T</a:t>
            </a:r>
            <a:r>
              <a:rPr altLang="en-GB" b="0" dirty="0" sz="2800" lang="en-US">
                <a:ea typeface="+mn-lt"/>
                <a:cs typeface="+mn-lt"/>
              </a:rPr>
              <a:t>he Calorie Burner is a smart bicycle that includes sensors to measure calories burned and speed, a TFT screen to display real-time stats, and a mixer at the rear that operates using mechanical energy from pedaling. An ESP8266 microcontroller processes the data and controls the system.</a:t>
            </a:r>
            <a:endParaRPr b="0" dirty="0" sz="2800" lang="en-US"/>
          </a:p>
        </p:txBody>
      </p: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10916" r="10916"/>
          <a:stretch>
            <a:fillRect/>
          </a:stretch>
        </p:blipFill>
        <p:spPr>
          <a:xfrm rot="0">
            <a:off x="8735658" y="2195881"/>
            <a:ext cx="3068046" cy="3918631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extBox 1"/>
          <p:cNvSpPr txBox="1"/>
          <p:nvPr/>
        </p:nvSpPr>
        <p:spPr>
          <a:xfrm>
            <a:off x="680723" y="455112"/>
            <a:ext cx="9438220" cy="986789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ctr">
              <a:lnSpc>
                <a:spcPct val="150000"/>
              </a:lnSpc>
            </a:pPr>
            <a:r>
              <a:rPr b="1" dirty="0" sz="4000" lang="en-US">
                <a:latin typeface="Tahoma"/>
                <a:ea typeface="Tahoma"/>
                <a:cs typeface="Tahoma"/>
              </a:rPr>
              <a:t>PROPOSED SYSTE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M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 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 </a:t>
            </a:r>
            <a:r>
              <a:rPr b="1" dirty="0" sz="4000" lang="en-US">
                <a:latin typeface="Tahoma"/>
                <a:ea typeface="Tahoma"/>
                <a:cs typeface="Tahoma"/>
              </a:rPr>
              <a:t>ADVANTAGES</a:t>
            </a:r>
            <a:endParaRPr sz="4000" lang="en-US"/>
          </a:p>
        </p:txBody>
      </p:sp>
      <p:sp>
        <p:nvSpPr>
          <p:cNvPr id="1048599" name="TextBox 2"/>
          <p:cNvSpPr txBox="1"/>
          <p:nvPr/>
        </p:nvSpPr>
        <p:spPr>
          <a:xfrm>
            <a:off x="1829646" y="1973531"/>
            <a:ext cx="8532708" cy="3774441"/>
          </a:xfrm>
          <a:prstGeom prst="rect"/>
          <a:noFill/>
        </p:spPr>
        <p:txBody>
          <a:bodyPr anchor="t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b="0" dirty="0" sz="2400" lang="en-US">
                <a:ea typeface="+mn-lt"/>
                <a:cs typeface="+mn-lt"/>
              </a:rPr>
              <a:t> </a:t>
            </a:r>
            <a:r>
              <a:rPr altLang="en-GB" b="0" dirty="0" sz="2400" lang="en-US">
                <a:ea typeface="+mn-lt"/>
                <a:cs typeface="+mn-lt"/>
              </a:rPr>
              <a:t>Tracks calories and speed in real-time.</a:t>
            </a:r>
            <a:endParaRPr b="0" dirty="0" sz="2400" lang="en-US"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altLang="en-GB" b="0" dirty="0" sz="2400" lang="en-US">
                <a:ea typeface="+mn-lt"/>
                <a:cs typeface="+mn-lt"/>
              </a:rPr>
              <a:t> </a:t>
            </a:r>
            <a:r>
              <a:rPr altLang="en-GB" b="0" dirty="0" sz="2400" lang="en-US">
                <a:ea typeface="+mn-lt"/>
                <a:cs typeface="+mn-lt"/>
              </a:rPr>
              <a:t>Mixer is powered by human pedaling, saving </a:t>
            </a:r>
            <a:r>
              <a:rPr altLang="en-GB" b="0" dirty="0" sz="2400" lang="en-US">
                <a:ea typeface="+mn-lt"/>
                <a:cs typeface="+mn-lt"/>
              </a:rPr>
              <a:t> </a:t>
            </a:r>
            <a:r>
              <a:rPr altLang="en-GB" b="0" dirty="0" sz="2400" lang="en-US">
                <a:ea typeface="+mn-lt"/>
                <a:cs typeface="+mn-lt"/>
              </a:rPr>
              <a:t>electricity.</a:t>
            </a:r>
            <a:endParaRPr b="0" dirty="0" sz="2400" lang="en-US"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altLang="en-GB" b="0" dirty="0" sz="2400" lang="en-US">
                <a:ea typeface="+mn-lt"/>
                <a:cs typeface="+mn-lt"/>
              </a:rPr>
              <a:t> </a:t>
            </a:r>
            <a:r>
              <a:rPr altLang="en-GB" b="0" dirty="0" sz="2400" lang="en-US">
                <a:ea typeface="+mn-lt"/>
                <a:cs typeface="+mn-lt"/>
              </a:rPr>
              <a:t>Encourages healthy habits through engaging utility.</a:t>
            </a:r>
            <a:endParaRPr b="0" dirty="0" sz="2400" lang="en-US"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altLang="en-GB" b="0" dirty="0" sz="2400" lang="en-US">
                <a:ea typeface="+mn-lt"/>
                <a:cs typeface="+mn-lt"/>
              </a:rPr>
              <a:t> </a:t>
            </a:r>
            <a:r>
              <a:rPr altLang="en-GB" b="0" dirty="0" sz="2400" lang="en-US">
                <a:ea typeface="+mn-lt"/>
                <a:cs typeface="+mn-lt"/>
              </a:rPr>
              <a:t>Uses affordable sensors and open-source microcontroller.</a:t>
            </a:r>
            <a:endParaRPr b="0" dirty="0" sz="2400" lang="en-US"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altLang="en-GB" b="0" dirty="0" sz="2400" lang="en-US">
                <a:ea typeface="+mn-lt"/>
                <a:cs typeface="+mn-lt"/>
              </a:rPr>
              <a:t> </a:t>
            </a:r>
            <a:r>
              <a:rPr altLang="en-GB" b="0" dirty="0" sz="2400" lang="en-US">
                <a:ea typeface="+mn-lt"/>
                <a:cs typeface="+mn-lt"/>
              </a:rPr>
              <a:t>Eco-friendly and energy-efficient.</a:t>
            </a:r>
            <a:endParaRPr b="0" dirty="0" sz="2400" lang="en-US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extBox 1"/>
          <p:cNvSpPr txBox="1"/>
          <p:nvPr/>
        </p:nvSpPr>
        <p:spPr>
          <a:xfrm>
            <a:off x="-4173" y="216104"/>
            <a:ext cx="12200347" cy="98679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ctr">
              <a:lnSpc>
                <a:spcPct val="150000"/>
              </a:lnSpc>
            </a:pPr>
            <a:r>
              <a:rPr altLang="en-GB" b="1" dirty="0" sz="4000" lang="en-US">
                <a:latin typeface="Tahoma"/>
                <a:ea typeface="Tahoma"/>
                <a:cs typeface="Tahoma"/>
              </a:rPr>
              <a:t>W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O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R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K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I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NG 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P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R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I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N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CIPLE </a:t>
            </a:r>
            <a:endParaRPr sz="4000" lang="en-US"/>
          </a:p>
        </p:txBody>
      </p:sp>
      <p:sp>
        <p:nvSpPr>
          <p:cNvPr id="1048601" name="TextBox 2"/>
          <p:cNvSpPr txBox="1"/>
          <p:nvPr/>
        </p:nvSpPr>
        <p:spPr>
          <a:xfrm>
            <a:off x="1042798" y="1572261"/>
            <a:ext cx="10106402" cy="4625339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altLang="en-GB" b="0" dirty="0" sz="2800" lang="en-US">
                <a:ea typeface="+mn-lt"/>
                <a:cs typeface="+mn-lt"/>
              </a:rPr>
              <a:t>A Hall effect or IR sensor detects wheel rotation.</a:t>
            </a:r>
            <a:endParaRPr b="0" dirty="0" sz="2800" lang="en-US"/>
          </a:p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altLang="en-GB" b="0" dirty="0" sz="2800" lang="en-US"/>
              <a:t>The ESP8266 processes rotation data to calculate speed and calories.</a:t>
            </a:r>
            <a:endParaRPr b="0" dirty="0" sz="2800" lang="en-US"/>
          </a:p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altLang="en-GB" b="0" dirty="0" sz="2800" lang="en-US"/>
              <a:t>The calculated data is shown on a TFT display.</a:t>
            </a:r>
            <a:endParaRPr b="0" dirty="0" sz="2800" lang="en-US"/>
          </a:p>
          <a:p>
            <a:pPr>
              <a:lnSpc>
                <a:spcPct val="150000"/>
              </a:lnSpc>
              <a:spcBef>
                <a:spcPts val="2000"/>
              </a:spcBef>
              <a:buFont typeface="Arial"/>
              <a:buChar char="•"/>
            </a:pPr>
            <a:r>
              <a:rPr altLang="en-GB" b="0" dirty="0" sz="2800" lang="en-US"/>
              <a:t>The rear wheel drives a belt mechanism connected to the mixer to blend juice when pedaling.</a:t>
            </a:r>
            <a:endParaRPr b="0" dirty="0" sz="28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Box 1"/>
          <p:cNvSpPr txBox="1"/>
          <p:nvPr/>
        </p:nvSpPr>
        <p:spPr>
          <a:xfrm>
            <a:off x="3569863" y="345213"/>
            <a:ext cx="10123117" cy="68834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r>
              <a:rPr altLang="en-GB" b="1" dirty="0" sz="4000" lang="en-US">
                <a:latin typeface="Tahoma"/>
              </a:rPr>
              <a:t>B</a:t>
            </a:r>
            <a:r>
              <a:rPr altLang="en-GB" b="1" dirty="0" sz="4000" lang="en-US">
                <a:latin typeface="Tahoma"/>
              </a:rPr>
              <a:t>L</a:t>
            </a:r>
            <a:r>
              <a:rPr altLang="en-GB" b="1" dirty="0" sz="4000" lang="en-US">
                <a:latin typeface="Tahoma"/>
              </a:rPr>
              <a:t>O</a:t>
            </a:r>
            <a:r>
              <a:rPr altLang="en-GB" b="1" dirty="0" sz="4000" lang="en-US">
                <a:latin typeface="Tahoma"/>
              </a:rPr>
              <a:t>C</a:t>
            </a:r>
            <a:r>
              <a:rPr altLang="en-GB" b="1" dirty="0" sz="4000" lang="en-US">
                <a:latin typeface="Tahoma"/>
              </a:rPr>
              <a:t>K</a:t>
            </a:r>
            <a:r>
              <a:rPr altLang="en-GB" b="1" dirty="0" sz="4000" lang="en-US">
                <a:latin typeface="Tahoma"/>
              </a:rPr>
              <a:t> </a:t>
            </a:r>
            <a:r>
              <a:rPr altLang="en-GB" b="1" dirty="0" sz="4000" lang="en-US">
                <a:latin typeface="Tahoma"/>
              </a:rPr>
              <a:t>D</a:t>
            </a:r>
            <a:r>
              <a:rPr altLang="en-GB" b="1" dirty="0" sz="4000" lang="en-US">
                <a:latin typeface="Tahoma"/>
              </a:rPr>
              <a:t>I</a:t>
            </a:r>
            <a:r>
              <a:rPr altLang="en-GB" b="1" dirty="0" sz="4000" lang="en-US">
                <a:latin typeface="Tahoma"/>
              </a:rPr>
              <a:t>A</a:t>
            </a:r>
            <a:r>
              <a:rPr altLang="en-GB" b="1" dirty="0" sz="4000" lang="en-US">
                <a:latin typeface="Tahoma"/>
              </a:rPr>
              <a:t>GRAM </a:t>
            </a:r>
            <a:endParaRPr altLang="en-US" sz="4000" lang="zh-CN"/>
          </a:p>
        </p:txBody>
      </p:sp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560579" y="1354250"/>
            <a:ext cx="5070842" cy="5167126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extBox 4"/>
          <p:cNvSpPr txBox="1"/>
          <p:nvPr/>
        </p:nvSpPr>
        <p:spPr>
          <a:xfrm>
            <a:off x="662245" y="0"/>
            <a:ext cx="7252569" cy="986789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 algn="l">
              <a:lnSpc>
                <a:spcPct val="150000"/>
              </a:lnSpc>
            </a:pPr>
            <a:r>
              <a:rPr b="1" dirty="0" sz="4000" lang="en-US">
                <a:latin typeface="Tahoma"/>
                <a:ea typeface="Tahoma"/>
                <a:cs typeface="Tahoma"/>
              </a:rPr>
              <a:t>FLOW-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C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H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A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R</a:t>
            </a:r>
            <a:r>
              <a:rPr altLang="en-GB" b="1" dirty="0" sz="4000" lang="en-US">
                <a:latin typeface="Tahoma"/>
                <a:ea typeface="Tahoma"/>
                <a:cs typeface="Tahoma"/>
              </a:rPr>
              <a:t>T</a:t>
            </a:r>
            <a:endParaRPr altLang="en-US" sz="4000" lang="zh-CN"/>
          </a:p>
        </p:txBody>
      </p:sp>
      <p:pic>
        <p:nvPicPr>
          <p:cNvPr id="2097157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2743" t="0" r="12792" b="11167"/>
          <a:stretch>
            <a:fillRect/>
          </a:stretch>
        </p:blipFill>
        <p:spPr>
          <a:xfrm>
            <a:off x="3852728" y="986789"/>
            <a:ext cx="4486545" cy="5527772"/>
          </a:xfrm>
          <a:prstGeom prst="rect"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97158" name="Ink 12"/>
              <p14:cNvContentPartPr/>
              <p14:nvPr/>
            </p14:nvContentPartPr>
            <p14:xfrm>
              <a:off x="-1772330" y="4136572"/>
              <a:ext cx="17008" cy="17008"/>
            </p14:xfrm>
          </p:contentPart>
        </mc:Choice>
        <mc:Fallback>
          <p:pic>
            <p:nvPicPr>
              <p:cNvPr id="2097158" name="Ink 12"/>
              <p:cNvPicPr>
                <a:picLocks/>
              </p:cNvPicPr>
              <p:nvPr/>
            </p:nvPicPr>
            <p:blipFill>
              <a:blip xmlns:r="http://schemas.openxmlformats.org/officeDocument/2006/relationships" r:embed="rId3"/>
              <a:stretch>
                <a:fillRect/>
              </a:stretch>
            </p:blipFill>
            <p:spPr>
              <a:xfrm>
                <a:off x="-1772330" y="4136572"/>
                <a:ext cx="17008" cy="17008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"/>
          <p:cNvSpPr>
            <a:spLocks noGrp="1"/>
          </p:cNvSpPr>
          <p:nvPr>
            <p:ph type="title"/>
          </p:nvPr>
        </p:nvSpPr>
        <p:spPr>
          <a:xfrm>
            <a:off x="1691000" y="0"/>
            <a:ext cx="8809999" cy="891941"/>
          </a:xfrm>
        </p:spPr>
        <p:txBody>
          <a:bodyPr/>
          <a:p>
            <a:pPr algn="ctr"/>
            <a:r>
              <a:rPr altLang="en-GB" b="1" sz="4000" lang="en-US"/>
              <a:t>U</a:t>
            </a:r>
            <a:r>
              <a:rPr altLang="en-GB" b="1" sz="4000" lang="en-US"/>
              <a:t>M</a:t>
            </a:r>
            <a:r>
              <a:rPr altLang="en-GB" b="1" sz="4000" lang="en-US"/>
              <a:t>L</a:t>
            </a:r>
            <a:r>
              <a:rPr altLang="en-GB" b="1" sz="4000" lang="en-US"/>
              <a:t> </a:t>
            </a:r>
            <a:r>
              <a:rPr altLang="en-GB" b="1" sz="4000" lang="en-US"/>
              <a:t>DIAGRAM</a:t>
            </a:r>
            <a:endParaRPr b="1" sz="4000" lang="en-GB"/>
          </a:p>
        </p:txBody>
      </p:sp>
      <p:pic>
        <p:nvPicPr>
          <p:cNvPr id="2097163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13075"/>
          <a:stretch>
            <a:fillRect/>
          </a:stretch>
        </p:blipFill>
        <p:spPr>
          <a:xfrm>
            <a:off x="3582313" y="1037284"/>
            <a:ext cx="6484202" cy="5333906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altLang="en-GB" b="1" sz="4000" lang="en-US"/>
              <a:t>R</a:t>
            </a:r>
            <a:r>
              <a:rPr altLang="en-GB" b="1" sz="4000" lang="en-US"/>
              <a:t>E</a:t>
            </a:r>
            <a:r>
              <a:rPr altLang="en-GB" b="1" sz="4000" lang="en-US"/>
              <a:t>S</a:t>
            </a:r>
            <a:r>
              <a:rPr altLang="en-GB" b="1" sz="4000" lang="en-US"/>
              <a:t>U</a:t>
            </a:r>
            <a:r>
              <a:rPr altLang="en-GB" b="1" sz="4000" lang="en-US"/>
              <a:t>LT</a:t>
            </a:r>
            <a:r>
              <a:rPr altLang="en-GB" lang="en-US"/>
              <a:t> </a:t>
            </a:r>
            <a:endParaRPr lang="en-GB"/>
          </a:p>
        </p:txBody>
      </p:sp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t="140" b="140"/>
          <a:stretch>
            <a:fillRect/>
          </a:stretch>
        </p:blipFill>
        <p:spPr>
          <a:xfrm rot="0">
            <a:off x="1719367" y="2548853"/>
            <a:ext cx="3381698" cy="3493782"/>
          </a:xfrm>
          <a:prstGeom prst="rect"/>
        </p:spPr>
      </p:pic>
      <p:sp>
        <p:nvSpPr>
          <p:cNvPr id="1048675" name=""/>
          <p:cNvSpPr txBox="1"/>
          <p:nvPr/>
        </p:nvSpPr>
        <p:spPr>
          <a:xfrm>
            <a:off x="838200" y="1690688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altLang="en-GB" b="1" sz="2800" lang="en-US">
                <a:solidFill>
                  <a:srgbClr val="000000"/>
                </a:solidFill>
              </a:rPr>
              <a:t>S</a:t>
            </a:r>
            <a:r>
              <a:rPr altLang="en-GB" b="1" sz="2800" lang="en-US">
                <a:solidFill>
                  <a:srgbClr val="000000"/>
                </a:solidFill>
              </a:rPr>
              <a:t>t</a:t>
            </a:r>
            <a:r>
              <a:rPr altLang="en-GB" b="1" sz="2800" lang="en-US">
                <a:solidFill>
                  <a:srgbClr val="000000"/>
                </a:solidFill>
              </a:rPr>
              <a:t>a</a:t>
            </a:r>
            <a:r>
              <a:rPr altLang="en-GB" b="1" sz="2800" lang="en-US">
                <a:solidFill>
                  <a:srgbClr val="000000"/>
                </a:solidFill>
              </a:rPr>
              <a:t>r</a:t>
            </a:r>
            <a:r>
              <a:rPr altLang="en-GB" b="1" sz="2800" lang="en-US">
                <a:solidFill>
                  <a:srgbClr val="000000"/>
                </a:solidFill>
              </a:rPr>
              <a:t>t</a:t>
            </a:r>
            <a:r>
              <a:rPr altLang="en-GB" b="1" sz="2800" lang="en-US">
                <a:solidFill>
                  <a:srgbClr val="000000"/>
                </a:solidFill>
              </a:rPr>
              <a:t>-up </a:t>
            </a:r>
            <a:r>
              <a:rPr altLang="en-GB" b="1" sz="2800" lang="en-US">
                <a:solidFill>
                  <a:srgbClr val="000000"/>
                </a:solidFill>
              </a:rPr>
              <a:t>s</a:t>
            </a:r>
            <a:r>
              <a:rPr altLang="en-GB" b="1" sz="2800" lang="en-US">
                <a:solidFill>
                  <a:srgbClr val="000000"/>
                </a:solidFill>
              </a:rPr>
              <a:t>c</a:t>
            </a:r>
            <a:r>
              <a:rPr altLang="en-GB" b="1" sz="2800" lang="en-US">
                <a:solidFill>
                  <a:srgbClr val="000000"/>
                </a:solidFill>
              </a:rPr>
              <a:t>r</a:t>
            </a:r>
            <a:r>
              <a:rPr altLang="en-GB" b="1" sz="2800" lang="en-US">
                <a:solidFill>
                  <a:srgbClr val="000000"/>
                </a:solidFill>
              </a:rPr>
              <a:t>e</a:t>
            </a:r>
            <a:r>
              <a:rPr altLang="en-GB" b="1" sz="2800" lang="en-US">
                <a:solidFill>
                  <a:srgbClr val="000000"/>
                </a:solidFill>
              </a:rPr>
              <a:t>en</a:t>
            </a:r>
            <a:r>
              <a:rPr altLang="en-GB" b="1" sz="2800" lang="en-US">
                <a:solidFill>
                  <a:srgbClr val="000000"/>
                </a:solidFill>
              </a:rPr>
              <a:t>:</a:t>
            </a:r>
            <a:endParaRPr b="1"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altLang="en-GB" b="1" sz="2800" lang="en-US"/>
              <a:t>R</a:t>
            </a:r>
            <a:r>
              <a:rPr altLang="en-GB" b="1" sz="2800" lang="en-US"/>
              <a:t>u</a:t>
            </a:r>
            <a:r>
              <a:rPr altLang="en-GB" b="1" sz="2800" lang="en-US"/>
              <a:t>n</a:t>
            </a:r>
            <a:r>
              <a:rPr altLang="en-GB" b="1" sz="2800" lang="en-US"/>
              <a:t>n</a:t>
            </a:r>
            <a:r>
              <a:rPr altLang="en-GB" b="1" sz="2800" lang="en-US"/>
              <a:t>i</a:t>
            </a:r>
            <a:r>
              <a:rPr altLang="en-GB" b="1" sz="2800" lang="en-US"/>
              <a:t>n</a:t>
            </a:r>
            <a:r>
              <a:rPr altLang="en-GB" b="1" sz="2800" lang="en-US"/>
              <a:t>g</a:t>
            </a:r>
            <a:r>
              <a:rPr altLang="en-GB" b="1" sz="2800" lang="en-US"/>
              <a:t> </a:t>
            </a:r>
            <a:r>
              <a:rPr altLang="en-GB" b="1" sz="2800" lang="en-US"/>
              <a:t>S</a:t>
            </a:r>
            <a:r>
              <a:rPr altLang="en-GB" b="1" sz="2800" lang="en-US"/>
              <a:t>t</a:t>
            </a:r>
            <a:r>
              <a:rPr altLang="en-GB" b="1" sz="2800" lang="en-US"/>
              <a:t>a</a:t>
            </a:r>
            <a:r>
              <a:rPr altLang="en-GB" b="1" sz="2800" lang="en-US"/>
              <a:t>t</a:t>
            </a:r>
            <a:r>
              <a:rPr altLang="en-GB" b="1" sz="2800" lang="en-US"/>
              <a:t>e</a:t>
            </a:r>
            <a:r>
              <a:rPr altLang="en-GB" b="1" sz="2800" lang="en-US"/>
              <a:t>:</a:t>
            </a:r>
            <a:endParaRPr b="1" lang="en-GB"/>
          </a:p>
        </p:txBody>
      </p:sp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2386132" y="1690688"/>
            <a:ext cx="7098522" cy="4576795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"/>
          <p:cNvSpPr>
            <a:spLocks noGrp="1"/>
          </p:cNvSpPr>
          <p:nvPr>
            <p:ph type="title"/>
          </p:nvPr>
        </p:nvSpPr>
        <p:spPr>
          <a:xfrm>
            <a:off x="815255" y="636018"/>
            <a:ext cx="10515600" cy="1325563"/>
          </a:xfrm>
        </p:spPr>
        <p:txBody>
          <a:bodyPr/>
          <a:p>
            <a:pPr>
              <a:lnSpc>
                <a:spcPct val="150000"/>
              </a:lnSpc>
            </a:pPr>
            <a:r>
              <a:rPr altLang="en-GB" b="1" sz="2800" lang="en-US"/>
              <a:t>C</a:t>
            </a:r>
            <a:r>
              <a:rPr altLang="en-GB" b="1" sz="2800" lang="en-US"/>
              <a:t>a</a:t>
            </a:r>
            <a:r>
              <a:rPr altLang="en-GB" b="1" sz="2800" lang="en-US"/>
              <a:t>l</a:t>
            </a:r>
            <a:r>
              <a:rPr altLang="en-GB" b="1" sz="2800" lang="en-US"/>
              <a:t>o</a:t>
            </a:r>
            <a:r>
              <a:rPr altLang="en-GB" b="1" sz="2800" lang="en-US"/>
              <a:t>r</a:t>
            </a:r>
            <a:r>
              <a:rPr altLang="en-GB" b="1" sz="2800" lang="en-US"/>
              <a:t>i</a:t>
            </a:r>
            <a:r>
              <a:rPr altLang="en-GB" b="1" sz="2800" lang="en-US"/>
              <a:t>e</a:t>
            </a:r>
            <a:r>
              <a:rPr altLang="en-GB" b="1" sz="2800" lang="en-US"/>
              <a:t>s</a:t>
            </a:r>
            <a:r>
              <a:rPr altLang="en-GB" b="1" sz="2800" lang="en-US"/>
              <a:t> </a:t>
            </a:r>
            <a:r>
              <a:rPr altLang="en-GB" b="1" sz="2800" lang="en-US"/>
              <a:t>a</a:t>
            </a:r>
            <a:r>
              <a:rPr altLang="en-GB" b="1" sz="2800" lang="en-US"/>
              <a:t>n</a:t>
            </a:r>
            <a:r>
              <a:rPr altLang="en-GB" b="1" sz="2800" lang="en-US"/>
              <a:t>d</a:t>
            </a:r>
            <a:r>
              <a:rPr altLang="en-GB" b="1" sz="2800" lang="en-US"/>
              <a:t> </a:t>
            </a:r>
            <a:r>
              <a:rPr altLang="en-GB" b="1" sz="2800" lang="en-US"/>
              <a:t>s</a:t>
            </a:r>
            <a:r>
              <a:rPr altLang="en-GB" b="1" sz="2800" lang="en-US"/>
              <a:t>p</a:t>
            </a:r>
            <a:r>
              <a:rPr altLang="en-GB" b="1" sz="2800" lang="en-US"/>
              <a:t>e</a:t>
            </a:r>
            <a:r>
              <a:rPr altLang="en-GB" b="1" sz="2800" lang="en-US"/>
              <a:t>e</a:t>
            </a:r>
            <a:r>
              <a:rPr altLang="en-GB" b="1" sz="2800" lang="en-US"/>
              <a:t>d</a:t>
            </a:r>
            <a:r>
              <a:rPr altLang="en-GB" b="1" sz="2800" lang="en-US"/>
              <a:t> </a:t>
            </a:r>
            <a:r>
              <a:rPr altLang="en-GB" b="1" sz="2800" lang="en-US"/>
              <a:t>C</a:t>
            </a:r>
            <a:r>
              <a:rPr altLang="en-GB" b="1" sz="2800" lang="en-US"/>
              <a:t>o</a:t>
            </a:r>
            <a:r>
              <a:rPr altLang="en-GB" b="1" sz="2800" lang="en-US"/>
              <a:t>u</a:t>
            </a:r>
            <a:r>
              <a:rPr altLang="en-GB" b="1" sz="2800" lang="en-US"/>
              <a:t>n</a:t>
            </a:r>
            <a:r>
              <a:rPr altLang="en-GB" b="1" sz="2800" lang="en-US"/>
              <a:t>t</a:t>
            </a:r>
            <a:r>
              <a:rPr altLang="en-GB" b="1" sz="2800" lang="en-US"/>
              <a:t>e</a:t>
            </a:r>
            <a:r>
              <a:rPr altLang="en-GB" b="1" sz="2800" lang="en-US"/>
              <a:t>d</a:t>
            </a:r>
            <a:r>
              <a:rPr altLang="en-GB" b="1" sz="2800" lang="en-US"/>
              <a:t>:</a:t>
            </a:r>
            <a:endParaRPr b="1" sz="2800" lang="en-GB"/>
          </a:p>
        </p:txBody>
      </p:sp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10678" t="12502" r="14679" b="16248"/>
          <a:stretch>
            <a:fillRect/>
          </a:stretch>
        </p:blipFill>
        <p:spPr>
          <a:xfrm>
            <a:off x="2666987" y="1961581"/>
            <a:ext cx="2901309" cy="4104089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Box 1"/>
          <p:cNvSpPr txBox="1"/>
          <p:nvPr/>
        </p:nvSpPr>
        <p:spPr>
          <a:xfrm>
            <a:off x="4024602" y="1019943"/>
            <a:ext cx="4914379" cy="68834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r>
              <a:rPr b="1" dirty="0" sz="4000" lang="en-US">
                <a:latin typeface="Tahoma"/>
              </a:rPr>
              <a:t>CONCLUSION</a:t>
            </a:r>
            <a:endParaRPr b="1" dirty="0" sz="4000" lang="en-US">
              <a:latin typeface="Tahoma"/>
              <a:ea typeface="Tahoma"/>
              <a:cs typeface="Tahoma"/>
            </a:endParaRPr>
          </a:p>
        </p:txBody>
      </p:sp>
      <p:sp>
        <p:nvSpPr>
          <p:cNvPr id="1048606" name="TextBox 2"/>
          <p:cNvSpPr txBox="1"/>
          <p:nvPr/>
        </p:nvSpPr>
        <p:spPr>
          <a:xfrm>
            <a:off x="420803" y="2004642"/>
            <a:ext cx="11350394" cy="4511039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pPr>
              <a:spcBef>
                <a:spcPts val="1000"/>
              </a:spcBef>
            </a:pPr>
            <a:endParaRPr lang="en-US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altLang="en-GB" dirty="0" sz="2800" lang="en-US"/>
              <a:t>T</a:t>
            </a:r>
            <a:r>
              <a:rPr altLang="en-GB" dirty="0" sz="2800" lang="en-US"/>
              <a:t>he Calorie Burner project provides an innovative solution for integrating fitness tracking with daily utility. It encourages physical activity by making cycling more engaging and productive.</a:t>
            </a:r>
            <a:endParaRPr sz="2800" lang="en-US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altLang="en-GB" sz="2800" lang="en-US"/>
              <a:t>The use of embedded systems enables automation and real-time data display, making the user experience interactive and informative.</a:t>
            </a:r>
            <a:endParaRPr sz="2800" lang="en-US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altLang="en-GB" sz="2800" lang="en-US"/>
              <a:t> </a:t>
            </a:r>
            <a:endParaRPr sz="28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"/>
          <p:cNvSpPr>
            <a:spLocks noGrp="1"/>
          </p:cNvSpPr>
          <p:nvPr>
            <p:ph type="title"/>
          </p:nvPr>
        </p:nvSpPr>
        <p:spPr>
          <a:xfrm>
            <a:off x="838200" y="871930"/>
            <a:ext cx="10515600" cy="616035"/>
          </a:xfrm>
        </p:spPr>
        <p:txBody>
          <a:bodyPr>
            <a:normAutofit fontScale="90000"/>
          </a:bodyPr>
          <a:p>
            <a:pPr algn="ctr">
              <a:lnSpc>
                <a:spcPct val="150000"/>
              </a:lnSpc>
            </a:pPr>
            <a:r>
              <a:rPr altLang="en-GB" b="1" sz="4000" lang="en-US"/>
              <a:t>F</a:t>
            </a:r>
            <a:r>
              <a:rPr altLang="en-GB" b="1" sz="4000" lang="en-US"/>
              <a:t>U</a:t>
            </a:r>
            <a:r>
              <a:rPr altLang="en-GB" b="1" sz="4000" lang="en-US"/>
              <a:t>T</a:t>
            </a:r>
            <a:r>
              <a:rPr altLang="en-GB" b="1" sz="4000" lang="en-US"/>
              <a:t>URE </a:t>
            </a:r>
            <a:r>
              <a:rPr altLang="en-GB" b="1" sz="4000" lang="en-US"/>
              <a:t>S</a:t>
            </a:r>
            <a:r>
              <a:rPr altLang="en-GB" b="1" sz="4000" lang="en-US"/>
              <a:t>C</a:t>
            </a:r>
            <a:r>
              <a:rPr altLang="en-GB" b="1" sz="4000" lang="en-US"/>
              <a:t>O</a:t>
            </a:r>
            <a:r>
              <a:rPr altLang="en-GB" b="1" sz="4000" lang="en-US"/>
              <a:t>P</a:t>
            </a:r>
            <a:r>
              <a:rPr altLang="en-GB" b="1" sz="4000" lang="en-US"/>
              <a:t>E </a:t>
            </a:r>
            <a:endParaRPr b="1" sz="4000" lang="en-GB"/>
          </a:p>
        </p:txBody>
      </p:sp>
      <p:sp>
        <p:nvSpPr>
          <p:cNvPr id="1048673" name=""/>
          <p:cNvSpPr txBox="1"/>
          <p:nvPr/>
        </p:nvSpPr>
        <p:spPr>
          <a:xfrm>
            <a:off x="1187340" y="1831259"/>
            <a:ext cx="9817320" cy="3863339"/>
          </a:xfrm>
          <a:prstGeom prst="rect"/>
        </p:spPr>
        <p:txBody>
          <a:bodyPr rtlCol="0" wrap="square">
            <a:spAutoFit/>
          </a:bodyPr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Add Bluetooth/Wi-Fi for data sync to mobile apps.</a:t>
            </a:r>
            <a:endParaRPr sz="2800" lang="en-GB">
              <a:solidFill>
                <a:srgbClr val="000000"/>
              </a:solidFill>
            </a:endParaRPr>
          </a:p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Include GPS tracking and route mapping.</a:t>
            </a:r>
            <a:endParaRPr sz="2800" lang="en-GB">
              <a:solidFill>
                <a:srgbClr val="000000"/>
              </a:solidFill>
            </a:endParaRPr>
          </a:p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Implement solar charging for battery.</a:t>
            </a:r>
            <a:endParaRPr sz="2800" lang="en-GB">
              <a:solidFill>
                <a:srgbClr val="000000"/>
              </a:solidFill>
            </a:endParaRPr>
          </a:p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Add mobile power bank output using pedal energy.</a:t>
            </a:r>
            <a:endParaRPr sz="2800" lang="en-GB">
              <a:solidFill>
                <a:srgbClr val="000000"/>
              </a:solidFill>
            </a:endParaRPr>
          </a:p>
          <a:p>
            <a:pPr indent="-457200" marL="457200">
              <a:lnSpc>
                <a:spcPct val="150000"/>
              </a:lnSpc>
              <a:buFont typeface="Arial"/>
              <a:buChar char="•"/>
            </a:pPr>
            <a:r>
              <a:rPr altLang="en-GB" sz="2800" lang="en-US">
                <a:solidFill>
                  <a:srgbClr val="000000"/>
                </a:solidFill>
              </a:rPr>
              <a:t>Al-based calorie estimation based on user profile (age, weight, etc.)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extBox 1"/>
          <p:cNvSpPr txBox="1"/>
          <p:nvPr/>
        </p:nvSpPr>
        <p:spPr>
          <a:xfrm>
            <a:off x="2296905" y="2644222"/>
            <a:ext cx="7597033" cy="1513840"/>
          </a:xfrm>
          <a:prstGeom prst="rect"/>
          <a:noFill/>
        </p:spPr>
        <p:txBody>
          <a:bodyPr anchor="t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spAutoFit/>
          </a:bodyPr>
          <a:p>
            <a:r>
              <a:rPr b="1" dirty="0" sz="9600" lang="en-US">
                <a:latin typeface="Tahoma"/>
                <a:ea typeface="Tahoma"/>
                <a:cs typeface="Tahoma"/>
              </a:rPr>
              <a:t>THANK YOU</a:t>
            </a:r>
            <a:endParaRPr b="1" sz="9600" lang="en-US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CPH2495</dc:creator>
  <cp:lastModifiedBy>Naveen Kumar</cp:lastModifiedBy>
  <dcterms:created xsi:type="dcterms:W3CDTF">2025-04-08T18:26:51Z</dcterms:created>
  <dcterms:modified xsi:type="dcterms:W3CDTF">2025-06-23T17:03:15Z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3cfd2532bd8e4b13b9bb491610299d31</vt:lpwstr>
  </property>
</Properties>
</file>